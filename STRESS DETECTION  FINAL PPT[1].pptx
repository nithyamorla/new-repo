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13"/>
  </p:notesMasterIdLst>
  <p:sldIdLst>
    <p:sldId id="312" r:id="rId2"/>
    <p:sldId id="316" r:id="rId3"/>
    <p:sldId id="315" r:id="rId4"/>
    <p:sldId id="318" r:id="rId5"/>
    <p:sldId id="319" r:id="rId6"/>
    <p:sldId id="320" r:id="rId7"/>
    <p:sldId id="314" r:id="rId8"/>
    <p:sldId id="321" r:id="rId9"/>
    <p:sldId id="322" r:id="rId10"/>
    <p:sldId id="313" r:id="rId11"/>
    <p:sldId id="31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4" autoAdjust="0"/>
    <p:restoredTop sz="94660"/>
  </p:normalViewPr>
  <p:slideViewPr>
    <p:cSldViewPr snapToGrid="0">
      <p:cViewPr varScale="1">
        <p:scale>
          <a:sx n="84" d="100"/>
          <a:sy n="84" d="100"/>
        </p:scale>
        <p:origin x="62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F705D-61A2-4A53-BBDF-FBE9DE2574E1}" type="datetimeFigureOut">
              <a:t>8/12/2025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0712E-88FD-4D59-BCE6-CB2574B7432B}" type="slidenum">
              <a:t>‹#›</a:t>
            </a:fld>
            <a:endParaRPr lang="en-US"/>
          </a:p>
        </p:txBody>
      </p:sp>
    </p:spTree>
    <p:extLst>
      <p:ext uri="{BB962C8B-B14F-4D97-AF65-F5344CB8AC3E}">
        <p14:creationId xmlns:p14="http://schemas.microsoft.com/office/powerpoint/2010/main" val="2287966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2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247224117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ree Section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5801"/>
            <a:ext cx="7661275" cy="2057400"/>
          </a:xfrm>
        </p:spPr>
        <p:txBody>
          <a:bodyPr wrap="square"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4" name="Text Placeholder 10">
            <a:extLst>
              <a:ext uri="{FF2B5EF4-FFF2-40B4-BE49-F238E27FC236}">
                <a16:creationId xmlns:a16="http://schemas.microsoft.com/office/drawing/2014/main" id="{AB1C8803-0542-76BB-6DF0-FCC5FE74BCA4}"/>
              </a:ext>
            </a:extLst>
          </p:cNvPr>
          <p:cNvSpPr>
            <a:spLocks noGrp="1"/>
          </p:cNvSpPr>
          <p:nvPr>
            <p:ph type="body" sz="quarter" idx="15"/>
          </p:nvPr>
        </p:nvSpPr>
        <p:spPr>
          <a:xfrm>
            <a:off x="4454237" y="2819905"/>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8316191"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8" name="Text Placeholder 10">
            <a:extLst>
              <a:ext uri="{FF2B5EF4-FFF2-40B4-BE49-F238E27FC236}">
                <a16:creationId xmlns:a16="http://schemas.microsoft.com/office/drawing/2014/main" id="{135C6E61-8847-4830-9FF4-365A758995C5}"/>
              </a:ext>
            </a:extLst>
          </p:cNvPr>
          <p:cNvSpPr>
            <a:spLocks noGrp="1"/>
          </p:cNvSpPr>
          <p:nvPr>
            <p:ph type="body" sz="quarter" idx="18"/>
          </p:nvPr>
        </p:nvSpPr>
        <p:spPr>
          <a:xfrm>
            <a:off x="8316191" y="3429001"/>
            <a:ext cx="3283527" cy="2380235"/>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Tree>
    <p:extLst>
      <p:ext uri="{BB962C8B-B14F-4D97-AF65-F5344CB8AC3E}">
        <p14:creationId xmlns:p14="http://schemas.microsoft.com/office/powerpoint/2010/main" val="4244063416"/>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Sections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6" y="685804"/>
            <a:ext cx="7661274" cy="2069086"/>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4454237"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8853487" y="1153397"/>
            <a:ext cx="2871788" cy="4499259"/>
          </a:xfrm>
        </p:spPr>
        <p:txBody>
          <a:bodyPr/>
          <a:lstStyle/>
          <a:p>
            <a:endParaRPr lang="en-US"/>
          </a:p>
        </p:txBody>
      </p:sp>
    </p:spTree>
    <p:extLst>
      <p:ext uri="{BB962C8B-B14F-4D97-AF65-F5344CB8AC3E}">
        <p14:creationId xmlns:p14="http://schemas.microsoft.com/office/powerpoint/2010/main" val="681575071"/>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Tree>
    <p:extLst>
      <p:ext uri="{BB962C8B-B14F-4D97-AF65-F5344CB8AC3E}">
        <p14:creationId xmlns:p14="http://schemas.microsoft.com/office/powerpoint/2010/main" val="1813020675"/>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138039"/>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1" y="3429000"/>
            <a:ext cx="5143501"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5143500"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6096000" y="1153397"/>
            <a:ext cx="5629275" cy="4499259"/>
          </a:xfrm>
        </p:spPr>
        <p:txBody>
          <a:bodyPr/>
          <a:lstStyle/>
          <a:p>
            <a:endParaRPr lang="en-US"/>
          </a:p>
        </p:txBody>
      </p:sp>
    </p:spTree>
    <p:extLst>
      <p:ext uri="{BB962C8B-B14F-4D97-AF65-F5344CB8AC3E}">
        <p14:creationId xmlns:p14="http://schemas.microsoft.com/office/powerpoint/2010/main" val="407245081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
        <p:nvSpPr>
          <p:cNvPr id="3" name="Picture Placeholder 11">
            <a:extLst>
              <a:ext uri="{FF2B5EF4-FFF2-40B4-BE49-F238E27FC236}">
                <a16:creationId xmlns:a16="http://schemas.microsoft.com/office/drawing/2014/main" id="{D96AF8D7-D3E5-B5C6-030A-DFBC5AEC7D00}"/>
              </a:ext>
            </a:extLst>
          </p:cNvPr>
          <p:cNvSpPr>
            <a:spLocks noGrp="1"/>
          </p:cNvSpPr>
          <p:nvPr>
            <p:ph type="pic" sz="quarter" idx="20"/>
          </p:nvPr>
        </p:nvSpPr>
        <p:spPr>
          <a:xfrm>
            <a:off x="592282" y="3616037"/>
            <a:ext cx="5503718" cy="2071901"/>
          </a:xfrm>
        </p:spPr>
        <p:txBody>
          <a:bodyPr/>
          <a:lstStyle/>
          <a:p>
            <a:endParaRPr lang="en-US"/>
          </a:p>
        </p:txBody>
      </p:sp>
    </p:spTree>
    <p:extLst>
      <p:ext uri="{BB962C8B-B14F-4D97-AF65-F5344CB8AC3E}">
        <p14:creationId xmlns:p14="http://schemas.microsoft.com/office/powerpoint/2010/main" val="371746879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CD049-71FF-411B-BCE5-A051E826B136}"/>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DFC7692D-ABCF-997B-650B-266DF91A7F55}"/>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FCE306B-148D-CE50-D43B-2DEE1378588F}"/>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E5411AD-3E1B-501F-B9F8-D0AAF3F5F5A2}"/>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3837449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E72686-CE9D-3B74-9DE2-86FB708C153F}"/>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1D822D6-F437-1E07-DBC9-57FD732126F4}"/>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12AF305-6821-F7EE-9D30-6FE81EC2BC31}"/>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2162179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5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91355101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82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BD9625-ED1C-9C68-D8B9-B6502FCCB415}"/>
              </a:ext>
            </a:extLst>
          </p:cNvPr>
          <p:cNvSpPr>
            <a:spLocks noGrp="1"/>
          </p:cNvSpPr>
          <p:nvPr>
            <p:ph type="title"/>
          </p:nvPr>
        </p:nvSpPr>
        <p:spPr>
          <a:xfrm>
            <a:off x="838200" y="365523"/>
            <a:ext cx="10515600" cy="13251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8293A9-2FAF-A155-DC7A-FE995344AE8C}"/>
              </a:ext>
            </a:extLst>
          </p:cNvPr>
          <p:cNvSpPr>
            <a:spLocks noGrp="1"/>
          </p:cNvSpPr>
          <p:nvPr>
            <p:ph type="body" idx="1"/>
          </p:nvPr>
        </p:nvSpPr>
        <p:spPr>
          <a:xfrm>
            <a:off x="838200" y="1825229"/>
            <a:ext cx="10515600" cy="43517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CF1B5DE-B15D-9D1C-21D2-953FFCB007DA}"/>
              </a:ext>
            </a:extLst>
          </p:cNvPr>
          <p:cNvSpPr>
            <a:spLocks noGrp="1"/>
          </p:cNvSpPr>
          <p:nvPr>
            <p:ph type="sldNum" sz="quarter" idx="4"/>
          </p:nvPr>
        </p:nvSpPr>
        <p:spPr>
          <a:xfrm>
            <a:off x="11353800" y="323958"/>
            <a:ext cx="373155" cy="364331"/>
          </a:xfrm>
          <a:prstGeom prst="rect">
            <a:avLst/>
          </a:prstGeom>
        </p:spPr>
        <p:txBody>
          <a:bodyPr vert="horz" lIns="91440" tIns="45720" rIns="91440" bIns="45720" rtlCol="0" anchor="ctr"/>
          <a:lstStyle>
            <a:lvl1pPr algn="r">
              <a:defRPr sz="1050">
                <a:solidFill>
                  <a:schemeClr val="tx1">
                    <a:lumMod val="65000"/>
                    <a:lumOff val="35000"/>
                  </a:schemeClr>
                </a:solidFill>
              </a:defRPr>
            </a:lvl1pPr>
          </a:lstStyle>
          <a:p>
            <a:fld id="{2E72D20E-321F-EE4C-A76D-7EFD4B1BDA03}" type="slidenum">
              <a:rPr lang="en-US" smtClean="0"/>
              <a:pPr/>
              <a:t>‹#›</a:t>
            </a:fld>
            <a:endParaRPr lang="en-US"/>
          </a:p>
        </p:txBody>
      </p:sp>
      <p:grpSp>
        <p:nvGrpSpPr>
          <p:cNvPr id="7" name="Group">
            <a:extLst>
              <a:ext uri="{FF2B5EF4-FFF2-40B4-BE49-F238E27FC236}">
                <a16:creationId xmlns:a16="http://schemas.microsoft.com/office/drawing/2014/main" id="{2CC72135-826E-3084-1ACC-9293218F24EE}"/>
              </a:ext>
            </a:extLst>
          </p:cNvPr>
          <p:cNvGrpSpPr/>
          <p:nvPr userDrawn="1"/>
        </p:nvGrpSpPr>
        <p:grpSpPr>
          <a:xfrm>
            <a:off x="11350549" y="6275881"/>
            <a:ext cx="378619" cy="267073"/>
            <a:chOff x="0" y="0"/>
            <a:chExt cx="504824" cy="356095"/>
          </a:xfrm>
        </p:grpSpPr>
        <p:sp>
          <p:nvSpPr>
            <p:cNvPr id="8" name="Line">
              <a:extLst>
                <a:ext uri="{FF2B5EF4-FFF2-40B4-BE49-F238E27FC236}">
                  <a16:creationId xmlns:a16="http://schemas.microsoft.com/office/drawing/2014/main" id="{024BCD63-D1A0-9E6D-3EA4-16D1E0509D18}"/>
                </a:ext>
              </a:extLst>
            </p:cNvPr>
            <p:cNvSpPr/>
            <p:nvPr/>
          </p:nvSpPr>
          <p:spPr>
            <a:xfrm>
              <a:off x="0" y="180134"/>
              <a:ext cx="504825" cy="1"/>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9" name="Line">
              <a:extLst>
                <a:ext uri="{FF2B5EF4-FFF2-40B4-BE49-F238E27FC236}">
                  <a16:creationId xmlns:a16="http://schemas.microsoft.com/office/drawing/2014/main" id="{3E483999-BF7F-A26B-845E-8C65CD948361}"/>
                </a:ext>
              </a:extLst>
            </p:cNvPr>
            <p:cNvSpPr/>
            <p:nvPr/>
          </p:nvSpPr>
          <p:spPr>
            <a:xfrm>
              <a:off x="324689" y="0"/>
              <a:ext cx="177185" cy="177184"/>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10" name="Line">
              <a:extLst>
                <a:ext uri="{FF2B5EF4-FFF2-40B4-BE49-F238E27FC236}">
                  <a16:creationId xmlns:a16="http://schemas.microsoft.com/office/drawing/2014/main" id="{B9696663-8271-B1D6-1A2F-9E2DDAA3DD5E}"/>
                </a:ext>
              </a:extLst>
            </p:cNvPr>
            <p:cNvSpPr/>
            <p:nvPr/>
          </p:nvSpPr>
          <p:spPr>
            <a:xfrm flipV="1">
              <a:off x="324689" y="178911"/>
              <a:ext cx="177185" cy="177185"/>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grpSp>
      <p:sp>
        <p:nvSpPr>
          <p:cNvPr id="11" name="textruta 3">
            <a:extLst>
              <a:ext uri="{FF2B5EF4-FFF2-40B4-BE49-F238E27FC236}">
                <a16:creationId xmlns:a16="http://schemas.microsoft.com/office/drawing/2014/main" id="{2DC00BBB-96D5-E144-A351-6386B4BABF32}"/>
              </a:ext>
            </a:extLst>
          </p:cNvPr>
          <p:cNvSpPr txBox="1"/>
          <p:nvPr userDrawn="1"/>
        </p:nvSpPr>
        <p:spPr>
          <a:xfrm>
            <a:off x="10707476" y="6260827"/>
            <a:ext cx="759780" cy="3000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lnSpc>
                <a:spcPct val="90000"/>
              </a:lnSpc>
              <a:spcBef>
                <a:spcPts val="600"/>
              </a:spcBef>
              <a:defRPr sz="2000">
                <a:solidFill>
                  <a:srgbClr val="000000"/>
                </a:solidFill>
              </a:defRPr>
            </a:lvl1pPr>
          </a:lstStyle>
          <a:p>
            <a:r>
              <a:rPr sz="1500"/>
              <a:t>NEXT</a:t>
            </a:r>
          </a:p>
        </p:txBody>
      </p:sp>
    </p:spTree>
    <p:extLst>
      <p:ext uri="{BB962C8B-B14F-4D97-AF65-F5344CB8AC3E}">
        <p14:creationId xmlns:p14="http://schemas.microsoft.com/office/powerpoint/2010/main" val="227664396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9" r:id="rId7"/>
    <p:sldLayoutId id="2147483680" r:id="rId8"/>
    <p:sldLayoutId id="2147483681" r:id="rId9"/>
    <p:sldLayoutId id="2147483683"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p15:clr>
            <a:srgbClr val="F26B43"/>
          </p15:clr>
        </p15:guide>
        <p15:guide id="2" pos="392">
          <p15:clr>
            <a:srgbClr val="F26B43"/>
          </p15:clr>
        </p15:guide>
        <p15:guide id="3" orient="horz" pos="5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5.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9.xml" /></Relationships>
</file>

<file path=ppt/slides/_rels/slide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9.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6F51652C-4687-996D-158E-5CE07CC39832}"/>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t="4047" r="35356" b="5044"/>
          <a:stretch/>
        </p:blipFill>
        <p:spPr>
          <a:xfrm>
            <a:off x="3947281" y="0"/>
            <a:ext cx="8669532" cy="6857990"/>
          </a:xfrm>
          <a:prstGeom prst="rect">
            <a:avLst/>
          </a:prstGeom>
        </p:spPr>
      </p:pic>
      <p:sp>
        <p:nvSpPr>
          <p:cNvPr id="76" name="Rectangle 75">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FF2B5EF4-FFF2-40B4-BE49-F238E27FC236}">
                <a16:creationId xmlns:a16="http://schemas.microsoft.com/office/drawing/2014/main" id="{1C660B10-D622-7696-9B8F-A29742AFB9BC}"/>
              </a:ext>
            </a:extLst>
          </p:cNvPr>
          <p:cNvSpPr>
            <a:spLocks noGrp="1"/>
          </p:cNvSpPr>
          <p:nvPr>
            <p:ph type="title"/>
          </p:nvPr>
        </p:nvSpPr>
        <p:spPr>
          <a:xfrm>
            <a:off x="371094" y="1161288"/>
            <a:ext cx="3438144" cy="1124712"/>
          </a:xfrm>
        </p:spPr>
        <p:txBody>
          <a:bodyPr vert="horz" lIns="91440" tIns="45720" rIns="91440" bIns="45720" rtlCol="0" anchor="b">
            <a:normAutofit/>
          </a:bodyPr>
          <a:lstStyle/>
          <a:p>
            <a:pPr defTabSz="914400"/>
            <a:r>
              <a:rPr lang="en-US" sz="2400">
                <a:solidFill>
                  <a:schemeClr val="bg1"/>
                </a:solidFill>
                <a:latin typeface="+mj-lt"/>
              </a:rPr>
              <a:t>STRESS DETECTION IN IT PROFESSIONAL BY IMAGE PROCESSING</a:t>
            </a:r>
          </a:p>
        </p:txBody>
      </p:sp>
      <p:sp>
        <p:nvSpPr>
          <p:cNvPr id="78" name="Rectangle 77">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0" name="Rectangle 7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 Placeholder 10">
            <a:extLst>
              <a:ext uri="{FF2B5EF4-FFF2-40B4-BE49-F238E27FC236}">
                <a16:creationId xmlns:a16="http://schemas.microsoft.com/office/drawing/2014/main" id="{D0739B64-C005-FA51-D057-C4B59A15B6CE}"/>
              </a:ext>
            </a:extLst>
          </p:cNvPr>
          <p:cNvSpPr>
            <a:spLocks noGrp="1"/>
          </p:cNvSpPr>
          <p:nvPr>
            <p:ph type="body" sz="quarter" idx="16"/>
          </p:nvPr>
        </p:nvSpPr>
        <p:spPr>
          <a:xfrm>
            <a:off x="371094" y="4752721"/>
            <a:ext cx="11643106" cy="3207258"/>
          </a:xfrm>
        </p:spPr>
        <p:txBody>
          <a:bodyPr vert="horz" lIns="91440" tIns="45720" rIns="91440" bIns="45720" rtlCol="0" anchor="t">
            <a:normAutofit/>
          </a:bodyPr>
          <a:lstStyle/>
          <a:p>
            <a:pPr indent="-228600" defTabSz="914400">
              <a:spcBef>
                <a:spcPts val="1000"/>
              </a:spcBef>
              <a:buFont typeface="Arial" panose="020B0604020202020204" pitchFamily="34" charset="0"/>
              <a:buChar char="•"/>
            </a:pPr>
            <a:r>
              <a:rPr lang="en-US" sz="1800" dirty="0">
                <a:solidFill>
                  <a:schemeClr val="bg1"/>
                </a:solidFill>
              </a:rPr>
              <a:t>PRESENTED BY:                                                                               </a:t>
            </a:r>
            <a:r>
              <a:rPr lang="en-US" sz="1800" b="1" dirty="0">
                <a:solidFill>
                  <a:schemeClr val="bg1"/>
                </a:solidFill>
              </a:rPr>
              <a:t>  GUIDED BY:  </a:t>
            </a:r>
            <a:r>
              <a:rPr lang="en-US" sz="1800" dirty="0">
                <a:solidFill>
                  <a:schemeClr val="bg1"/>
                </a:solidFill>
              </a:rPr>
              <a:t>        </a:t>
            </a:r>
          </a:p>
          <a:p>
            <a:pPr indent="-228600" defTabSz="914400">
              <a:spcBef>
                <a:spcPts val="1000"/>
              </a:spcBef>
              <a:buFont typeface="Arial" panose="020B0604020202020204" pitchFamily="34" charset="0"/>
              <a:buChar char="•"/>
            </a:pPr>
            <a:r>
              <a:rPr lang="en-US" sz="1800" dirty="0">
                <a:solidFill>
                  <a:schemeClr val="bg1"/>
                </a:solidFill>
              </a:rPr>
              <a:t>G.SAI RAM                                                                                        </a:t>
            </a:r>
            <a:r>
              <a:rPr lang="en-US" sz="1800" b="1" dirty="0">
                <a:solidFill>
                  <a:schemeClr val="bg1"/>
                </a:solidFill>
              </a:rPr>
              <a:t> S.VIJAYALAXMI</a:t>
            </a:r>
          </a:p>
          <a:p>
            <a:pPr indent="-228600" defTabSz="914400">
              <a:spcBef>
                <a:spcPts val="1000"/>
              </a:spcBef>
              <a:buFont typeface="Arial" panose="020B0604020202020204" pitchFamily="34" charset="0"/>
              <a:buChar char="•"/>
            </a:pPr>
            <a:r>
              <a:rPr lang="en-US" sz="1800" dirty="0">
                <a:solidFill>
                  <a:schemeClr val="bg1"/>
                </a:solidFill>
              </a:rPr>
              <a:t>H.NO:2129-22-862-060                                                                </a:t>
            </a:r>
            <a:r>
              <a:rPr lang="en-US" sz="1800" b="1" dirty="0">
                <a:solidFill>
                  <a:schemeClr val="bg1"/>
                </a:solidFill>
              </a:rPr>
              <a:t>  ASSOCIATE PROFESSOR</a:t>
            </a:r>
          </a:p>
        </p:txBody>
      </p:sp>
      <p:sp>
        <p:nvSpPr>
          <p:cNvPr id="3" name="Slide Number Placeholder 2">
            <a:extLst>
              <a:ext uri="{FF2B5EF4-FFF2-40B4-BE49-F238E27FC236}">
                <a16:creationId xmlns:a16="http://schemas.microsoft.com/office/drawing/2014/main" id="{A734E2EC-7405-2A62-940B-47EB7719F63E}"/>
              </a:ext>
            </a:extLst>
          </p:cNvPr>
          <p:cNvSpPr>
            <a:spLocks noGrp="1"/>
          </p:cNvSpPr>
          <p:nvPr>
            <p:ph type="sldNum" sz="quarter" idx="12"/>
          </p:nvPr>
        </p:nvSpPr>
        <p:spPr>
          <a:xfrm>
            <a:off x="9077706" y="6356350"/>
            <a:ext cx="2743200" cy="365125"/>
          </a:xfrm>
        </p:spPr>
        <p:txBody>
          <a:bodyPr vert="horz" lIns="91440" tIns="45720" rIns="91440" bIns="45720" rtlCol="0" anchor="ctr">
            <a:normAutofit/>
          </a:bodyPr>
          <a:lstStyle/>
          <a:p>
            <a:pPr>
              <a:spcAft>
                <a:spcPts val="600"/>
              </a:spcAft>
              <a:defRPr/>
            </a:pPr>
            <a:fld id="{B4E73946-9152-2148-B286-BEF1B04A8193}" type="slidenum">
              <a:rPr lang="en-US" sz="1200" dirty="0">
                <a:solidFill>
                  <a:schemeClr val="bg1"/>
                </a:solidFill>
                <a:latin typeface="Calibri" panose="020F0502020204030204"/>
              </a:rPr>
              <a:pPr>
                <a:spcAft>
                  <a:spcPts val="600"/>
                </a:spcAft>
                <a:defRPr/>
              </a:pPr>
              <a:t>1</a:t>
            </a:fld>
            <a:endParaRPr lang="en-US" sz="1200">
              <a:solidFill>
                <a:schemeClr val="bg1"/>
              </a:solidFill>
              <a:latin typeface="Calibri" panose="020F0502020204030204"/>
            </a:endParaRPr>
          </a:p>
        </p:txBody>
      </p:sp>
      <p:sp>
        <p:nvSpPr>
          <p:cNvPr id="4" name="TextBox 3">
            <a:extLst>
              <a:ext uri="{FF2B5EF4-FFF2-40B4-BE49-F238E27FC236}">
                <a16:creationId xmlns:a16="http://schemas.microsoft.com/office/drawing/2014/main" id="{DFD9334F-730C-28D5-1AB6-2E0AE74BE2C4}"/>
              </a:ext>
            </a:extLst>
          </p:cNvPr>
          <p:cNvSpPr txBox="1"/>
          <p:nvPr/>
        </p:nvSpPr>
        <p:spPr>
          <a:xfrm>
            <a:off x="5551714" y="3967842"/>
            <a:ext cx="538842" cy="2286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839402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8B9F-55ED-BB22-FE3F-5F541645BC0F}"/>
              </a:ext>
            </a:extLst>
          </p:cNvPr>
          <p:cNvSpPr>
            <a:spLocks noGrp="1"/>
          </p:cNvSpPr>
          <p:nvPr>
            <p:ph type="title"/>
          </p:nvPr>
        </p:nvSpPr>
        <p:spPr>
          <a:xfrm>
            <a:off x="466725" y="685801"/>
            <a:ext cx="11253561" cy="903514"/>
          </a:xfrm>
        </p:spPr>
        <p:txBody>
          <a:bodyPr/>
          <a:lstStyle/>
          <a:p>
            <a:pPr algn="ctr"/>
            <a:r>
              <a:rPr lang="en-US" b="1">
                <a:cs typeface="Calibri"/>
              </a:rPr>
              <a:t>ABSTRACT</a:t>
            </a:r>
            <a:endParaRPr lang="en-US" b="1" dirty="0">
              <a:cs typeface="Calibri"/>
            </a:endParaRPr>
          </a:p>
        </p:txBody>
      </p:sp>
      <p:sp>
        <p:nvSpPr>
          <p:cNvPr id="3" name="Slide Number Placeholder 2">
            <a:extLst>
              <a:ext uri="{FF2B5EF4-FFF2-40B4-BE49-F238E27FC236}">
                <a16:creationId xmlns:a16="http://schemas.microsoft.com/office/drawing/2014/main" id="{0B5D1ACD-9E6E-6A92-49D5-3EC7F033DC02}"/>
              </a:ext>
            </a:extLst>
          </p:cNvPr>
          <p:cNvSpPr>
            <a:spLocks noGrp="1"/>
          </p:cNvSpPr>
          <p:nvPr>
            <p:ph type="sldNum" sz="quarter" idx="12"/>
          </p:nvPr>
        </p:nvSpPr>
        <p:spPr/>
        <p:txBody>
          <a:bodyPr/>
          <a:lstStyle/>
          <a:p>
            <a:fld id="{B4E73946-9152-2148-B286-BEF1B04A8193}" type="slidenum">
              <a:rPr lang="en-US" smtClean="0"/>
              <a:t>2</a:t>
            </a:fld>
            <a:endParaRPr lang="en-US" dirty="0"/>
          </a:p>
        </p:txBody>
      </p:sp>
      <p:sp>
        <p:nvSpPr>
          <p:cNvPr id="5" name="Text Placeholder 4">
            <a:extLst>
              <a:ext uri="{FF2B5EF4-FFF2-40B4-BE49-F238E27FC236}">
                <a16:creationId xmlns:a16="http://schemas.microsoft.com/office/drawing/2014/main" id="{65A22A30-8148-E182-6653-668B082032F1}"/>
              </a:ext>
            </a:extLst>
          </p:cNvPr>
          <p:cNvSpPr>
            <a:spLocks noGrp="1"/>
          </p:cNvSpPr>
          <p:nvPr>
            <p:ph type="body" sz="quarter" idx="14"/>
          </p:nvPr>
        </p:nvSpPr>
        <p:spPr>
          <a:xfrm>
            <a:off x="592282" y="1726871"/>
            <a:ext cx="10947069" cy="3846615"/>
          </a:xfrm>
        </p:spPr>
        <p:txBody>
          <a:bodyPr vert="horz" lIns="91440" tIns="45720" rIns="91440" bIns="45720" rtlCol="0" anchor="t">
            <a:normAutofit/>
          </a:bodyPr>
          <a:lstStyle/>
          <a:p>
            <a:pPr algn="just"/>
            <a:r>
              <a:rPr lang="en-US" sz="2400" dirty="0">
                <a:solidFill>
                  <a:srgbClr val="000000"/>
                </a:solidFill>
                <a:latin typeface="Times New Roman"/>
                <a:cs typeface="Times New Roman"/>
              </a:rPr>
              <a:t>The main conception of this project is to descry stress in the IT professionals with the help of Deep literacy and Image processing ways. This project is an upgraded interpretation of the old stress discovery systems which barred the live discovery and the particular comforting but this project comprises of live discovery and periodic analysis of workers and detecting physical as well as internal stress situations in his/ her by furnishing them with proper remedies for managing stress by furnishing check form periodically. This project substantially focuses on managing stress and making the working terrain healthy and robotic for the workers and to get the stylish out of them during working hours.in this when we detected different type behaviors of human being the person is in abnormal behavior like stress mood then we can control the person with smooth music.</a:t>
            </a:r>
            <a:endParaRPr lang="en-US" sz="2400" dirty="0">
              <a:cs typeface="Calibri" panose="020F0502020204030204"/>
            </a:endParaRPr>
          </a:p>
        </p:txBody>
      </p:sp>
    </p:spTree>
    <p:extLst>
      <p:ext uri="{BB962C8B-B14F-4D97-AF65-F5344CB8AC3E}">
        <p14:creationId xmlns:p14="http://schemas.microsoft.com/office/powerpoint/2010/main" val="3780704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DC2FF4-F75E-6399-C188-949577E7772D}"/>
              </a:ext>
            </a:extLst>
          </p:cNvPr>
          <p:cNvSpPr>
            <a:spLocks noGrp="1"/>
          </p:cNvSpPr>
          <p:nvPr>
            <p:ph type="title"/>
          </p:nvPr>
        </p:nvSpPr>
        <p:spPr>
          <a:xfrm>
            <a:off x="974851" y="-108844"/>
            <a:ext cx="5251316" cy="1005782"/>
          </a:xfrm>
        </p:spPr>
        <p:txBody>
          <a:bodyPr vert="horz" lIns="91440" tIns="45720" rIns="91440" bIns="45720" rtlCol="0" anchor="ctr">
            <a:normAutofit/>
          </a:bodyPr>
          <a:lstStyle/>
          <a:p>
            <a:pPr defTabSz="914400"/>
            <a:r>
              <a:rPr lang="en-US" sz="4400" b="1" dirty="0">
                <a:latin typeface="+mj-lt"/>
              </a:rPr>
              <a:t>INTRODUCTION</a:t>
            </a:r>
          </a:p>
        </p:txBody>
      </p:sp>
      <p:sp>
        <p:nvSpPr>
          <p:cNvPr id="4" name="Text Placeholder 3">
            <a:extLst>
              <a:ext uri="{FF2B5EF4-FFF2-40B4-BE49-F238E27FC236}">
                <a16:creationId xmlns:a16="http://schemas.microsoft.com/office/drawing/2014/main" id="{F7613C7F-1EAE-CD1F-EC1C-0B3429278C97}"/>
              </a:ext>
            </a:extLst>
          </p:cNvPr>
          <p:cNvSpPr>
            <a:spLocks noGrp="1"/>
          </p:cNvSpPr>
          <p:nvPr>
            <p:ph type="body" sz="quarter" idx="13"/>
          </p:nvPr>
        </p:nvSpPr>
        <p:spPr>
          <a:xfrm>
            <a:off x="263382" y="1005782"/>
            <a:ext cx="5962785" cy="5171181"/>
          </a:xfrm>
        </p:spPr>
        <p:txBody>
          <a:bodyPr vert="horz" lIns="91440" tIns="45720" rIns="91440" bIns="45720" rtlCol="0">
            <a:normAutofit/>
          </a:bodyPr>
          <a:lstStyle/>
          <a:p>
            <a:pPr indent="-228600" defTabSz="914400">
              <a:buFont typeface="Arial" panose="020B0604020202020204" pitchFamily="34" charset="0"/>
              <a:buChar char="•"/>
            </a:pPr>
            <a:r>
              <a:rPr lang="en-US" dirty="0"/>
              <a:t>With the advent of modern technology our desires went high and it binds no bounds. In the present era a huge research work is going on in the field of digital image and image processing</a:t>
            </a:r>
            <a:r>
              <a:rPr lang="en-US"/>
              <a:t>. Image </a:t>
            </a:r>
            <a:r>
              <a:rPr lang="en-US" dirty="0"/>
              <a:t>Processing is a vast area of research in present day world and its applications are very widespread. Image processing is the field of signal processing where both the input and output signals are images. One of the most important applications of Image processing is Facial expression recognition. Our person behavior is revealed by the expressions in our face. Facial Expressions plays an important role in interpersonal communication. Facial expression is a non verbal scientific gesture which gets expressed in our face based as per our person behaviors. Automatic recognition of facial expression plays an important role in artificial intelligence and robotics and thus it is a need of the generation. Some application related to this includes Personal identification and Access control, Videophone and Teleconferencing, Forensic application, Human-Computer Interaction, Automated Surveillance, Cosmetology and so on. The objective of this project is to develop Automatic Facial Expression Recognition System which can take human facial images containing some expression as input and recognize and classify it into seven different expression. We should the find stress on it professionals.</a:t>
            </a:r>
          </a:p>
          <a:p>
            <a:pPr indent="-228600" defTabSz="914400">
              <a:buFont typeface="Arial" panose="020B0604020202020204" pitchFamily="34" charset="0"/>
              <a:buChar char="•"/>
            </a:pPr>
            <a:endParaRPr lang="en-US" sz="1100" dirty="0"/>
          </a:p>
        </p:txBody>
      </p:sp>
      <p:pic>
        <p:nvPicPr>
          <p:cNvPr id="10" name="Picture Placeholder 9" descr="A person with a rope around their head">
            <a:extLst>
              <a:ext uri="{FF2B5EF4-FFF2-40B4-BE49-F238E27FC236}">
                <a16:creationId xmlns:a16="http://schemas.microsoft.com/office/drawing/2014/main" id="{7A5418DB-7EAD-CD5D-D634-DB1015D39E09}"/>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7043" r="-1"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3" name="Slide Number Placeholder 2">
            <a:extLst>
              <a:ext uri="{FF2B5EF4-FFF2-40B4-BE49-F238E27FC236}">
                <a16:creationId xmlns:a16="http://schemas.microsoft.com/office/drawing/2014/main" id="{ACB44FAC-349F-C45B-AEF8-85D24D28847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4E73946-9152-2148-B286-BEF1B04A8193}" type="slidenum">
              <a:rPr lang="en-US" sz="1200">
                <a:solidFill>
                  <a:srgbClr val="FFFFFF"/>
                </a:solidFill>
                <a:latin typeface="Calibri" panose="020F0502020204030204"/>
              </a:rPr>
              <a:pPr>
                <a:spcAft>
                  <a:spcPts val="600"/>
                </a:spcAft>
                <a:defRPr/>
              </a:pPr>
              <a:t>3</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1544849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0151C-49E7-7CCD-DFAF-05CFED634BEE}"/>
              </a:ext>
            </a:extLst>
          </p:cNvPr>
          <p:cNvSpPr>
            <a:spLocks noGrp="1"/>
          </p:cNvSpPr>
          <p:nvPr>
            <p:ph type="title"/>
          </p:nvPr>
        </p:nvSpPr>
        <p:spPr>
          <a:xfrm>
            <a:off x="990600" y="142784"/>
            <a:ext cx="10210800" cy="726677"/>
          </a:xfrm>
        </p:spPr>
        <p:txBody>
          <a:bodyPr>
            <a:normAutofit/>
          </a:bodyPr>
          <a:lstStyle/>
          <a:p>
            <a:pPr algn="ctr"/>
            <a:r>
              <a:rPr lang="en-US" sz="4400" b="1" dirty="0"/>
              <a:t>EXISTING SYSTEM</a:t>
            </a:r>
            <a:endParaRPr lang="en-IN" sz="4400" b="1" dirty="0"/>
          </a:p>
        </p:txBody>
      </p:sp>
      <p:sp>
        <p:nvSpPr>
          <p:cNvPr id="3" name="Slide Number Placeholder 2">
            <a:extLst>
              <a:ext uri="{FF2B5EF4-FFF2-40B4-BE49-F238E27FC236}">
                <a16:creationId xmlns:a16="http://schemas.microsoft.com/office/drawing/2014/main" id="{2E7BBB71-B2C5-98F0-D404-299B72ED0B8D}"/>
              </a:ext>
            </a:extLst>
          </p:cNvPr>
          <p:cNvSpPr>
            <a:spLocks noGrp="1"/>
          </p:cNvSpPr>
          <p:nvPr>
            <p:ph type="sldNum" sz="quarter" idx="12"/>
          </p:nvPr>
        </p:nvSpPr>
        <p:spPr/>
        <p:txBody>
          <a:bodyPr/>
          <a:lstStyle/>
          <a:p>
            <a:fld id="{B4E73946-9152-2148-B286-BEF1B04A8193}" type="slidenum">
              <a:rPr lang="en-US" smtClean="0"/>
              <a:t>4</a:t>
            </a:fld>
            <a:endParaRPr lang="en-US"/>
          </a:p>
        </p:txBody>
      </p:sp>
      <p:sp>
        <p:nvSpPr>
          <p:cNvPr id="4" name="TextBox 3">
            <a:extLst>
              <a:ext uri="{FF2B5EF4-FFF2-40B4-BE49-F238E27FC236}">
                <a16:creationId xmlns:a16="http://schemas.microsoft.com/office/drawing/2014/main" id="{0DFEBBE6-F203-0BE4-ABBF-E74B2DD33238}"/>
              </a:ext>
            </a:extLst>
          </p:cNvPr>
          <p:cNvSpPr txBox="1"/>
          <p:nvPr/>
        </p:nvSpPr>
        <p:spPr>
          <a:xfrm>
            <a:off x="990600" y="1003300"/>
            <a:ext cx="10210800" cy="5852884"/>
          </a:xfrm>
          <a:prstGeom prst="rect">
            <a:avLst/>
          </a:prstGeom>
          <a:noFill/>
        </p:spPr>
        <p:txBody>
          <a:bodyPr wrap="square" rtlCol="0">
            <a:spAutoFit/>
          </a:bodyPr>
          <a:lstStyle/>
          <a:p>
            <a:pPr algn="just" rtl="0">
              <a:spcBef>
                <a:spcPts val="0"/>
              </a:spcBef>
              <a:spcAft>
                <a:spcPts val="800"/>
              </a:spcAft>
            </a:pPr>
            <a:r>
              <a:rPr lang="en-US" sz="2400" b="0" i="0" u="none" strike="noStrike" dirty="0">
                <a:solidFill>
                  <a:srgbClr val="000000"/>
                </a:solidFill>
                <a:effectLst/>
                <a:latin typeface="Times New Roman" panose="02020603050405020304" pitchFamily="18" charset="0"/>
              </a:rPr>
              <a:t>The study of face based and its features is an active research area from past few decades. Pose variation, illumination conditions, bad lighting etc., are still challenging factors faced by all algorithms. Face based recognition and person behavior detection system are the major applications of recognition system, in which many algorithms have tried to solve these problems.</a:t>
            </a:r>
          </a:p>
          <a:p>
            <a:pPr algn="just" rtl="0" fontAlgn="base">
              <a:spcBef>
                <a:spcPts val="0"/>
              </a:spcBef>
              <a:spcAft>
                <a:spcPts val="0"/>
              </a:spcAft>
              <a:buFont typeface="Arial" panose="020B0604020202020204" pitchFamily="34" charset="0"/>
              <a:buChar char="•"/>
            </a:pPr>
            <a:r>
              <a:rPr lang="en-IN" sz="2400" b="0" i="0" u="none" strike="noStrike" dirty="0">
                <a:solidFill>
                  <a:srgbClr val="000000"/>
                </a:solidFill>
                <a:effectLst/>
                <a:latin typeface="Times New Roman" panose="02020603050405020304" pitchFamily="18" charset="0"/>
              </a:rPr>
              <a:t>Principal Component Analysis </a:t>
            </a:r>
          </a:p>
          <a:p>
            <a:pPr algn="just" rtl="0" fontAlgn="base">
              <a:spcBef>
                <a:spcPts val="0"/>
              </a:spcBef>
              <a:spcAft>
                <a:spcPts val="1000"/>
              </a:spcAft>
              <a:buFont typeface="Arial" panose="020B0604020202020204" pitchFamily="34" charset="0"/>
              <a:buChar char="•"/>
            </a:pPr>
            <a:r>
              <a:rPr lang="en-IN" sz="2400" b="0" i="0" u="none" strike="noStrike" dirty="0">
                <a:solidFill>
                  <a:srgbClr val="000000"/>
                </a:solidFill>
                <a:effectLst/>
                <a:latin typeface="Times New Roman" panose="02020603050405020304" pitchFamily="18" charset="0"/>
              </a:rPr>
              <a:t>Geometric methods</a:t>
            </a:r>
          </a:p>
          <a:p>
            <a:pPr algn="just" rtl="0" fontAlgn="base">
              <a:spcBef>
                <a:spcPts val="0"/>
              </a:spcBef>
              <a:spcAft>
                <a:spcPts val="1000"/>
              </a:spcAft>
              <a:buFont typeface="Arial" panose="020B0604020202020204" pitchFamily="34" charset="0"/>
              <a:buChar char="•"/>
            </a:pPr>
            <a:r>
              <a:rPr lang="en-IN" sz="2400" b="0" i="0" u="none" strike="noStrike" dirty="0">
                <a:solidFill>
                  <a:srgbClr val="000000"/>
                </a:solidFill>
                <a:effectLst/>
                <a:latin typeface="Times New Roman" panose="02020603050405020304" pitchFamily="18" charset="0"/>
              </a:rPr>
              <a:t>Support vector machine.</a:t>
            </a:r>
          </a:p>
          <a:p>
            <a:pPr algn="just" rtl="0">
              <a:spcBef>
                <a:spcPts val="0"/>
              </a:spcBef>
              <a:spcAft>
                <a:spcPts val="800"/>
              </a:spcAft>
            </a:pPr>
            <a:r>
              <a:rPr lang="en-IN" sz="2400" b="1" i="0" u="none" strike="noStrike" dirty="0">
                <a:solidFill>
                  <a:srgbClr val="000000"/>
                </a:solidFill>
                <a:effectLst/>
                <a:latin typeface="Times New Roman" panose="02020603050405020304" pitchFamily="18" charset="0"/>
              </a:rPr>
              <a:t>Drawbacks</a:t>
            </a:r>
            <a:endParaRPr lang="en-US" sz="2400" b="0" dirty="0">
              <a:effectLst/>
            </a:endParaRPr>
          </a:p>
          <a:p>
            <a:pPr algn="just"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Low discriminatory power and high computational load</a:t>
            </a:r>
          </a:p>
          <a:p>
            <a:pPr algn="just" rtl="0" fontAlgn="base">
              <a:spcBef>
                <a:spcPts val="0"/>
              </a:spcBef>
              <a:spcAft>
                <a:spcPts val="100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In geometric based methods, the geometric features like distance between speech signals.</a:t>
            </a:r>
          </a:p>
          <a:p>
            <a:br>
              <a:rPr lang="en-US" sz="2400" dirty="0"/>
            </a:br>
            <a:endParaRPr lang="en-IN" sz="2400" dirty="0"/>
          </a:p>
        </p:txBody>
      </p:sp>
    </p:spTree>
    <p:extLst>
      <p:ext uri="{BB962C8B-B14F-4D97-AF65-F5344CB8AC3E}">
        <p14:creationId xmlns:p14="http://schemas.microsoft.com/office/powerpoint/2010/main" val="1297600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A2F16-DF0D-3EC3-ADBB-83F362AA6CF7}"/>
              </a:ext>
            </a:extLst>
          </p:cNvPr>
          <p:cNvSpPr>
            <a:spLocks noGrp="1"/>
          </p:cNvSpPr>
          <p:nvPr>
            <p:ph type="title"/>
          </p:nvPr>
        </p:nvSpPr>
        <p:spPr>
          <a:xfrm>
            <a:off x="838200" y="365523"/>
            <a:ext cx="10515600" cy="675877"/>
          </a:xfrm>
        </p:spPr>
        <p:txBody>
          <a:bodyPr>
            <a:normAutofit fontScale="90000"/>
          </a:bodyPr>
          <a:lstStyle/>
          <a:p>
            <a:pPr algn="ctr"/>
            <a:r>
              <a:rPr lang="en-US" sz="4400" b="1" dirty="0"/>
              <a:t>PROPOSING SYSTEM</a:t>
            </a:r>
            <a:endParaRPr lang="en-IN" sz="4400" b="1" dirty="0"/>
          </a:p>
        </p:txBody>
      </p:sp>
      <p:sp>
        <p:nvSpPr>
          <p:cNvPr id="3" name="Slide Number Placeholder 2">
            <a:extLst>
              <a:ext uri="{FF2B5EF4-FFF2-40B4-BE49-F238E27FC236}">
                <a16:creationId xmlns:a16="http://schemas.microsoft.com/office/drawing/2014/main" id="{5103A163-E30E-214E-BDCA-C197662DDD04}"/>
              </a:ext>
            </a:extLst>
          </p:cNvPr>
          <p:cNvSpPr>
            <a:spLocks noGrp="1"/>
          </p:cNvSpPr>
          <p:nvPr>
            <p:ph type="sldNum" sz="quarter" idx="12"/>
          </p:nvPr>
        </p:nvSpPr>
        <p:spPr/>
        <p:txBody>
          <a:bodyPr/>
          <a:lstStyle/>
          <a:p>
            <a:fld id="{B4E73946-9152-2148-B286-BEF1B04A8193}" type="slidenum">
              <a:rPr lang="en-US" smtClean="0"/>
              <a:t>5</a:t>
            </a:fld>
            <a:endParaRPr lang="en-US"/>
          </a:p>
        </p:txBody>
      </p:sp>
      <p:sp>
        <p:nvSpPr>
          <p:cNvPr id="4" name="TextBox 3">
            <a:extLst>
              <a:ext uri="{FF2B5EF4-FFF2-40B4-BE49-F238E27FC236}">
                <a16:creationId xmlns:a16="http://schemas.microsoft.com/office/drawing/2014/main" id="{E4AD64F1-ABDD-6C0C-8797-366CF6B79730}"/>
              </a:ext>
            </a:extLst>
          </p:cNvPr>
          <p:cNvSpPr txBox="1"/>
          <p:nvPr/>
        </p:nvSpPr>
        <p:spPr>
          <a:xfrm>
            <a:off x="1177177" y="1414428"/>
            <a:ext cx="10363200" cy="4857740"/>
          </a:xfrm>
          <a:prstGeom prst="rect">
            <a:avLst/>
          </a:prstGeom>
          <a:noFill/>
        </p:spPr>
        <p:txBody>
          <a:bodyPr wrap="square" rtlCol="0">
            <a:spAutoFit/>
          </a:bodyPr>
          <a:lstStyle/>
          <a:p>
            <a:pPr algn="just" rtl="0">
              <a:spcBef>
                <a:spcPts val="0"/>
              </a:spcBef>
              <a:spcAft>
                <a:spcPts val="1000"/>
              </a:spcAft>
            </a:pPr>
            <a:br>
              <a:rPr lang="en-US" sz="2400" b="0" dirty="0">
                <a:effectLst/>
              </a:rPr>
            </a:br>
            <a:r>
              <a:rPr lang="en-US" sz="2400" b="1" i="0" u="none" strike="noStrike" dirty="0">
                <a:solidFill>
                  <a:srgbClr val="000000"/>
                </a:solidFill>
                <a:effectLst/>
                <a:latin typeface="Times New Roman" panose="02020603050405020304" pitchFamily="18" charset="0"/>
              </a:rPr>
              <a:t>Proposed method</a:t>
            </a:r>
            <a:endParaRPr lang="en-US" sz="2400" b="0" dirty="0">
              <a:effectLst/>
            </a:endParaRPr>
          </a:p>
          <a:p>
            <a:pPr algn="just"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Pre-process</a:t>
            </a:r>
          </a:p>
          <a:p>
            <a:pPr algn="just"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Deep learning</a:t>
            </a:r>
          </a:p>
          <a:p>
            <a:pPr algn="just"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Human Behavior model</a:t>
            </a:r>
          </a:p>
          <a:p>
            <a:pPr algn="just" rtl="0" fontAlgn="base">
              <a:spcBef>
                <a:spcPts val="0"/>
              </a:spcBef>
              <a:spcAft>
                <a:spcPts val="80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Feature extraction</a:t>
            </a:r>
            <a:r>
              <a:rPr lang="en-US" sz="2400" b="1" i="0" u="none" strike="noStrike" dirty="0">
                <a:solidFill>
                  <a:srgbClr val="000000"/>
                </a:solidFill>
                <a:effectLst/>
                <a:latin typeface="Times New Roman" panose="02020603050405020304" pitchFamily="18" charset="0"/>
              </a:rPr>
              <a:t> </a:t>
            </a:r>
          </a:p>
          <a:p>
            <a:pPr algn="just" rtl="0">
              <a:spcBef>
                <a:spcPts val="0"/>
              </a:spcBef>
              <a:spcAft>
                <a:spcPts val="800"/>
              </a:spcAft>
            </a:pPr>
            <a:br>
              <a:rPr lang="en-US" sz="2400" b="0" dirty="0">
                <a:effectLst/>
              </a:rPr>
            </a:br>
            <a:br>
              <a:rPr lang="en-US" sz="2400" b="0" dirty="0">
                <a:effectLst/>
              </a:rPr>
            </a:br>
            <a:r>
              <a:rPr lang="en-US" sz="2400" b="1" i="0" u="none" strike="noStrike" dirty="0">
                <a:solidFill>
                  <a:srgbClr val="000000"/>
                </a:solidFill>
                <a:effectLst/>
                <a:latin typeface="Times New Roman" panose="02020603050405020304" pitchFamily="18" charset="0"/>
              </a:rPr>
              <a:t>ADVANTAGE:</a:t>
            </a:r>
            <a:endParaRPr lang="en-US" sz="2400" b="0" dirty="0">
              <a:effectLst/>
            </a:endParaRPr>
          </a:p>
          <a:p>
            <a:pPr algn="just"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Can relief the people from abnormal situations</a:t>
            </a:r>
          </a:p>
          <a:p>
            <a:pPr algn="just"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More accurate results</a:t>
            </a:r>
          </a:p>
          <a:p>
            <a:pPr algn="just" rtl="0" fontAlgn="base">
              <a:spcBef>
                <a:spcPts val="0"/>
              </a:spcBef>
              <a:spcAft>
                <a:spcPts val="100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Training of features are easy</a:t>
            </a:r>
          </a:p>
        </p:txBody>
      </p:sp>
    </p:spTree>
    <p:extLst>
      <p:ext uri="{BB962C8B-B14F-4D97-AF65-F5344CB8AC3E}">
        <p14:creationId xmlns:p14="http://schemas.microsoft.com/office/powerpoint/2010/main" val="213903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B6A97-154D-FDBC-0BE2-F1C808F1C039}"/>
              </a:ext>
            </a:extLst>
          </p:cNvPr>
          <p:cNvSpPr>
            <a:spLocks noGrp="1"/>
          </p:cNvSpPr>
          <p:nvPr>
            <p:ph type="title"/>
          </p:nvPr>
        </p:nvSpPr>
        <p:spPr>
          <a:xfrm>
            <a:off x="838200" y="0"/>
            <a:ext cx="10515600" cy="1325165"/>
          </a:xfrm>
        </p:spPr>
        <p:txBody>
          <a:bodyPr>
            <a:normAutofit/>
          </a:bodyPr>
          <a:lstStyle/>
          <a:p>
            <a:pPr algn="ctr"/>
            <a:r>
              <a:rPr lang="en-US" sz="4400" b="1" dirty="0"/>
              <a:t>REQUIREMENTS</a:t>
            </a:r>
            <a:endParaRPr lang="en-IN" sz="4400" b="1" dirty="0"/>
          </a:p>
        </p:txBody>
      </p:sp>
      <p:sp>
        <p:nvSpPr>
          <p:cNvPr id="3" name="Slide Number Placeholder 2">
            <a:extLst>
              <a:ext uri="{FF2B5EF4-FFF2-40B4-BE49-F238E27FC236}">
                <a16:creationId xmlns:a16="http://schemas.microsoft.com/office/drawing/2014/main" id="{526F4686-29A8-F6D8-F7A6-7C27970983D5}"/>
              </a:ext>
            </a:extLst>
          </p:cNvPr>
          <p:cNvSpPr>
            <a:spLocks noGrp="1"/>
          </p:cNvSpPr>
          <p:nvPr>
            <p:ph type="sldNum" sz="quarter" idx="12"/>
          </p:nvPr>
        </p:nvSpPr>
        <p:spPr/>
        <p:txBody>
          <a:bodyPr/>
          <a:lstStyle/>
          <a:p>
            <a:fld id="{B4E73946-9152-2148-B286-BEF1B04A8193}" type="slidenum">
              <a:rPr lang="en-US" smtClean="0"/>
              <a:t>6</a:t>
            </a:fld>
            <a:endParaRPr lang="en-US"/>
          </a:p>
        </p:txBody>
      </p:sp>
      <p:sp>
        <p:nvSpPr>
          <p:cNvPr id="4" name="TextBox 3">
            <a:extLst>
              <a:ext uri="{FF2B5EF4-FFF2-40B4-BE49-F238E27FC236}">
                <a16:creationId xmlns:a16="http://schemas.microsoft.com/office/drawing/2014/main" id="{9385EB55-8215-270B-50E9-EEC92B47323D}"/>
              </a:ext>
            </a:extLst>
          </p:cNvPr>
          <p:cNvSpPr txBox="1"/>
          <p:nvPr/>
        </p:nvSpPr>
        <p:spPr>
          <a:xfrm>
            <a:off x="876300" y="1993900"/>
            <a:ext cx="10477500" cy="3170099"/>
          </a:xfrm>
          <a:prstGeom prst="rect">
            <a:avLst/>
          </a:prstGeom>
          <a:noFill/>
        </p:spPr>
        <p:txBody>
          <a:bodyPr wrap="square" rtlCol="0">
            <a:spAutoFit/>
          </a:bodyPr>
          <a:lstStyle/>
          <a:p>
            <a:pPr algn="just" rtl="0">
              <a:spcBef>
                <a:spcPts val="960"/>
              </a:spcBef>
              <a:spcAft>
                <a:spcPts val="600"/>
              </a:spcAft>
            </a:pPr>
            <a:r>
              <a:rPr lang="en-IN" sz="3200" b="1" i="0" u="none" strike="noStrike" dirty="0">
                <a:solidFill>
                  <a:srgbClr val="000000"/>
                </a:solidFill>
                <a:effectLst/>
                <a:highlight>
                  <a:srgbClr val="FFFFFF"/>
                </a:highlight>
                <a:latin typeface="Times New Roman" panose="02020603050405020304" pitchFamily="18" charset="0"/>
              </a:rPr>
              <a:t>Hardware requirement:</a:t>
            </a:r>
            <a:endParaRPr lang="en-IN" sz="3200" b="0" dirty="0">
              <a:effectLst/>
              <a:highlight>
                <a:srgbClr val="FFFFFF"/>
              </a:highlight>
            </a:endParaRPr>
          </a:p>
          <a:p>
            <a:pPr algn="just" rtl="0" fontAlgn="base">
              <a:spcBef>
                <a:spcPts val="960"/>
              </a:spcBef>
              <a:spcAft>
                <a:spcPts val="600"/>
              </a:spcAft>
              <a:buFont typeface="Arial" panose="020B0604020202020204" pitchFamily="34" charset="0"/>
              <a:buChar char="•"/>
            </a:pPr>
            <a:r>
              <a:rPr lang="en-IN" sz="3200" b="0" i="0" u="none" strike="noStrike" dirty="0">
                <a:solidFill>
                  <a:srgbClr val="000000"/>
                </a:solidFill>
                <a:effectLst/>
                <a:highlight>
                  <a:srgbClr val="FFFFFF"/>
                </a:highlight>
                <a:latin typeface="Times New Roman" panose="02020603050405020304" pitchFamily="18" charset="0"/>
              </a:rPr>
              <a:t>Hard Disk Drive=1Terabite</a:t>
            </a:r>
          </a:p>
          <a:p>
            <a:pPr algn="just" rtl="0">
              <a:spcBef>
                <a:spcPts val="960"/>
              </a:spcBef>
              <a:spcAft>
                <a:spcPts val="600"/>
              </a:spcAft>
            </a:pPr>
            <a:r>
              <a:rPr lang="en-IN" sz="3200" b="1" i="0" u="none" strike="noStrike" dirty="0">
                <a:solidFill>
                  <a:srgbClr val="000000"/>
                </a:solidFill>
                <a:effectLst/>
                <a:highlight>
                  <a:srgbClr val="FFFFFF"/>
                </a:highlight>
                <a:latin typeface="Times New Roman" panose="02020603050405020304" pitchFamily="18" charset="0"/>
              </a:rPr>
              <a:t>Software requirement </a:t>
            </a:r>
            <a:endParaRPr lang="en-IN" sz="3200" b="0" dirty="0">
              <a:effectLst/>
              <a:highlight>
                <a:srgbClr val="FFFFFF"/>
              </a:highlight>
            </a:endParaRPr>
          </a:p>
          <a:p>
            <a:pPr algn="just" rtl="0" fontAlgn="base">
              <a:spcBef>
                <a:spcPts val="960"/>
              </a:spcBef>
              <a:spcAft>
                <a:spcPts val="0"/>
              </a:spcAft>
              <a:buFont typeface="Arial" panose="020B0604020202020204" pitchFamily="34" charset="0"/>
              <a:buChar char="•"/>
            </a:pPr>
            <a:r>
              <a:rPr lang="en-IN" sz="3200" b="0" i="0" u="none" strike="noStrike" dirty="0">
                <a:solidFill>
                  <a:srgbClr val="000000"/>
                </a:solidFill>
                <a:effectLst/>
                <a:highlight>
                  <a:srgbClr val="FFFFFF"/>
                </a:highlight>
                <a:latin typeface="Times New Roman" panose="02020603050405020304" pitchFamily="18" charset="0"/>
              </a:rPr>
              <a:t>Python ,</a:t>
            </a:r>
          </a:p>
          <a:p>
            <a:pPr algn="just" rtl="0" fontAlgn="base">
              <a:spcBef>
                <a:spcPts val="0"/>
              </a:spcBef>
              <a:spcAft>
                <a:spcPts val="600"/>
              </a:spcAft>
              <a:buFont typeface="Arial" panose="020B0604020202020204" pitchFamily="34" charset="0"/>
              <a:buChar char="•"/>
            </a:pPr>
            <a:r>
              <a:rPr lang="en-IN" sz="3200" b="0" i="0" u="none" strike="noStrike" dirty="0">
                <a:solidFill>
                  <a:srgbClr val="000000"/>
                </a:solidFill>
                <a:effectLst/>
                <a:highlight>
                  <a:srgbClr val="FFFFFF"/>
                </a:highlight>
                <a:latin typeface="Times New Roman" panose="02020603050405020304" pitchFamily="18" charset="0"/>
              </a:rPr>
              <a:t>anaconda navigator </a:t>
            </a:r>
          </a:p>
        </p:txBody>
      </p:sp>
    </p:spTree>
    <p:extLst>
      <p:ext uri="{BB962C8B-B14F-4D97-AF65-F5344CB8AC3E}">
        <p14:creationId xmlns:p14="http://schemas.microsoft.com/office/powerpoint/2010/main" val="1090781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AD1F-A8A6-BE98-71FF-AF400C21E594}"/>
              </a:ext>
            </a:extLst>
          </p:cNvPr>
          <p:cNvSpPr>
            <a:spLocks noGrp="1"/>
          </p:cNvSpPr>
          <p:nvPr>
            <p:ph type="title"/>
          </p:nvPr>
        </p:nvSpPr>
        <p:spPr>
          <a:xfrm>
            <a:off x="2426155" y="32661"/>
            <a:ext cx="7628617" cy="1056715"/>
          </a:xfrm>
        </p:spPr>
        <p:txBody>
          <a:bodyPr/>
          <a:lstStyle/>
          <a:p>
            <a:r>
              <a:rPr lang="en-US" dirty="0">
                <a:ea typeface="Calibri"/>
                <a:cs typeface="Calibri"/>
              </a:rPr>
              <a:t>USE CASE DIAGRAM</a:t>
            </a:r>
          </a:p>
        </p:txBody>
      </p:sp>
      <p:sp>
        <p:nvSpPr>
          <p:cNvPr id="3" name="Slide Number Placeholder 2">
            <a:extLst>
              <a:ext uri="{FF2B5EF4-FFF2-40B4-BE49-F238E27FC236}">
                <a16:creationId xmlns:a16="http://schemas.microsoft.com/office/drawing/2014/main" id="{1FC7D985-A287-05BE-A56C-CE87211AE619}"/>
              </a:ext>
            </a:extLst>
          </p:cNvPr>
          <p:cNvSpPr>
            <a:spLocks noGrp="1"/>
          </p:cNvSpPr>
          <p:nvPr>
            <p:ph type="sldNum" sz="quarter" idx="12"/>
          </p:nvPr>
        </p:nvSpPr>
        <p:spPr/>
        <p:txBody>
          <a:bodyPr/>
          <a:lstStyle/>
          <a:p>
            <a:fld id="{B4E73946-9152-2148-B286-BEF1B04A8193}" type="slidenum">
              <a:rPr lang="en-US" smtClean="0"/>
              <a:t>7</a:t>
            </a:fld>
            <a:endParaRPr lang="en-US"/>
          </a:p>
        </p:txBody>
      </p:sp>
      <p:sp>
        <p:nvSpPr>
          <p:cNvPr id="54" name="Oval 53">
            <a:extLst>
              <a:ext uri="{FF2B5EF4-FFF2-40B4-BE49-F238E27FC236}">
                <a16:creationId xmlns:a16="http://schemas.microsoft.com/office/drawing/2014/main" id="{EEC497E8-AA6A-FE42-7DE0-E21BF701214C}"/>
              </a:ext>
            </a:extLst>
          </p:cNvPr>
          <p:cNvSpPr/>
          <p:nvPr/>
        </p:nvSpPr>
        <p:spPr>
          <a:xfrm>
            <a:off x="4521200" y="1089376"/>
            <a:ext cx="2509520" cy="52643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collection</a:t>
            </a:r>
            <a:endParaRPr lang="en-IN" dirty="0"/>
          </a:p>
        </p:txBody>
      </p:sp>
      <p:sp>
        <p:nvSpPr>
          <p:cNvPr id="55" name="Oval 54">
            <a:extLst>
              <a:ext uri="{FF2B5EF4-FFF2-40B4-BE49-F238E27FC236}">
                <a16:creationId xmlns:a16="http://schemas.microsoft.com/office/drawing/2014/main" id="{64B6FB44-22DF-AB24-913A-08BD1D8ECE3F}"/>
              </a:ext>
            </a:extLst>
          </p:cNvPr>
          <p:cNvSpPr/>
          <p:nvPr/>
        </p:nvSpPr>
        <p:spPr>
          <a:xfrm>
            <a:off x="4587240" y="1688160"/>
            <a:ext cx="2377440" cy="526432"/>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a:t>
            </a:r>
            <a:endParaRPr lang="en-IN" dirty="0"/>
          </a:p>
        </p:txBody>
      </p:sp>
      <p:sp>
        <p:nvSpPr>
          <p:cNvPr id="56" name="Oval 55">
            <a:extLst>
              <a:ext uri="{FF2B5EF4-FFF2-40B4-BE49-F238E27FC236}">
                <a16:creationId xmlns:a16="http://schemas.microsoft.com/office/drawing/2014/main" id="{57523677-13D1-6D42-A8AC-B82F135F1885}"/>
              </a:ext>
            </a:extLst>
          </p:cNvPr>
          <p:cNvSpPr/>
          <p:nvPr/>
        </p:nvSpPr>
        <p:spPr>
          <a:xfrm>
            <a:off x="4587240" y="2282411"/>
            <a:ext cx="2509520" cy="52643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Feature extraction </a:t>
            </a:r>
            <a:endParaRPr lang="en-IN" dirty="0"/>
          </a:p>
        </p:txBody>
      </p:sp>
      <p:sp>
        <p:nvSpPr>
          <p:cNvPr id="57" name="Oval 56">
            <a:extLst>
              <a:ext uri="{FF2B5EF4-FFF2-40B4-BE49-F238E27FC236}">
                <a16:creationId xmlns:a16="http://schemas.microsoft.com/office/drawing/2014/main" id="{D434329F-6A4C-B9CF-02B2-B7D56D6A5053}"/>
              </a:ext>
            </a:extLst>
          </p:cNvPr>
          <p:cNvSpPr/>
          <p:nvPr/>
        </p:nvSpPr>
        <p:spPr>
          <a:xfrm>
            <a:off x="4668520" y="2906131"/>
            <a:ext cx="2296160" cy="68035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Train and test</a:t>
            </a:r>
            <a:endParaRPr lang="en-IN" dirty="0"/>
          </a:p>
        </p:txBody>
      </p:sp>
      <p:sp>
        <p:nvSpPr>
          <p:cNvPr id="58" name="Oval 57">
            <a:extLst>
              <a:ext uri="{FF2B5EF4-FFF2-40B4-BE49-F238E27FC236}">
                <a16:creationId xmlns:a16="http://schemas.microsoft.com/office/drawing/2014/main" id="{823B0FE9-7360-2B36-756B-DB78F7A2AFC7}"/>
              </a:ext>
            </a:extLst>
          </p:cNvPr>
          <p:cNvSpPr/>
          <p:nvPr/>
        </p:nvSpPr>
        <p:spPr>
          <a:xfrm>
            <a:off x="4734560" y="3706298"/>
            <a:ext cx="2296160" cy="52643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Apply </a:t>
            </a:r>
            <a:endParaRPr lang="en-IN" dirty="0"/>
          </a:p>
        </p:txBody>
      </p:sp>
      <p:sp>
        <p:nvSpPr>
          <p:cNvPr id="59" name="Oval 58">
            <a:extLst>
              <a:ext uri="{FF2B5EF4-FFF2-40B4-BE49-F238E27FC236}">
                <a16:creationId xmlns:a16="http://schemas.microsoft.com/office/drawing/2014/main" id="{445F8DB9-0F27-7CF7-35D8-D5B745BF49E4}"/>
              </a:ext>
            </a:extLst>
          </p:cNvPr>
          <p:cNvSpPr/>
          <p:nvPr/>
        </p:nvSpPr>
        <p:spPr>
          <a:xfrm>
            <a:off x="4734560" y="4352545"/>
            <a:ext cx="2296160" cy="52643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Find the accuracy </a:t>
            </a:r>
            <a:endParaRPr lang="en-IN" dirty="0"/>
          </a:p>
        </p:txBody>
      </p:sp>
      <p:sp>
        <p:nvSpPr>
          <p:cNvPr id="60" name="Oval 59">
            <a:extLst>
              <a:ext uri="{FF2B5EF4-FFF2-40B4-BE49-F238E27FC236}">
                <a16:creationId xmlns:a16="http://schemas.microsoft.com/office/drawing/2014/main" id="{605459F4-E166-A5B7-1A52-074DE71DC037}"/>
              </a:ext>
            </a:extLst>
          </p:cNvPr>
          <p:cNvSpPr/>
          <p:nvPr/>
        </p:nvSpPr>
        <p:spPr>
          <a:xfrm>
            <a:off x="4734560" y="5128544"/>
            <a:ext cx="2296160" cy="640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Result </a:t>
            </a:r>
            <a:endParaRPr lang="en-IN" dirty="0"/>
          </a:p>
        </p:txBody>
      </p:sp>
      <p:sp>
        <p:nvSpPr>
          <p:cNvPr id="61" name="Oval 60">
            <a:extLst>
              <a:ext uri="{FF2B5EF4-FFF2-40B4-BE49-F238E27FC236}">
                <a16:creationId xmlns:a16="http://schemas.microsoft.com/office/drawing/2014/main" id="{D3078E37-A7D1-FBC1-B4A3-B9BA98C23C51}"/>
              </a:ext>
            </a:extLst>
          </p:cNvPr>
          <p:cNvSpPr/>
          <p:nvPr/>
        </p:nvSpPr>
        <p:spPr>
          <a:xfrm>
            <a:off x="9357360" y="2214592"/>
            <a:ext cx="487680" cy="37555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63" name="Straight Connector 62">
            <a:extLst>
              <a:ext uri="{FF2B5EF4-FFF2-40B4-BE49-F238E27FC236}">
                <a16:creationId xmlns:a16="http://schemas.microsoft.com/office/drawing/2014/main" id="{3D341BAE-E550-69F7-FFD1-8181E3FC7725}"/>
              </a:ext>
            </a:extLst>
          </p:cNvPr>
          <p:cNvCxnSpPr/>
          <p:nvPr/>
        </p:nvCxnSpPr>
        <p:spPr>
          <a:xfrm>
            <a:off x="9611360" y="2570851"/>
            <a:ext cx="0" cy="335280"/>
          </a:xfrm>
          <a:prstGeom prst="line">
            <a:avLst/>
          </a:prstGeom>
        </p:spPr>
        <p:style>
          <a:lnRef idx="1">
            <a:schemeClr val="dk1"/>
          </a:lnRef>
          <a:fillRef idx="0">
            <a:schemeClr val="dk1"/>
          </a:fillRef>
          <a:effectRef idx="0">
            <a:schemeClr val="dk1"/>
          </a:effectRef>
          <a:fontRef idx="minor">
            <a:schemeClr val="tx1"/>
          </a:fontRef>
        </p:style>
      </p:cxnSp>
      <p:cxnSp>
        <p:nvCxnSpPr>
          <p:cNvPr id="2049" name="Straight Connector 2048">
            <a:extLst>
              <a:ext uri="{FF2B5EF4-FFF2-40B4-BE49-F238E27FC236}">
                <a16:creationId xmlns:a16="http://schemas.microsoft.com/office/drawing/2014/main" id="{798CBDFA-5946-8BB8-04E5-83AE3F6F789D}"/>
              </a:ext>
            </a:extLst>
          </p:cNvPr>
          <p:cNvCxnSpPr/>
          <p:nvPr/>
        </p:nvCxnSpPr>
        <p:spPr>
          <a:xfrm flipH="1">
            <a:off x="9357360" y="2906131"/>
            <a:ext cx="254000" cy="243469"/>
          </a:xfrm>
          <a:prstGeom prst="line">
            <a:avLst/>
          </a:prstGeom>
        </p:spPr>
        <p:style>
          <a:lnRef idx="1">
            <a:schemeClr val="dk1"/>
          </a:lnRef>
          <a:fillRef idx="0">
            <a:schemeClr val="dk1"/>
          </a:fillRef>
          <a:effectRef idx="0">
            <a:schemeClr val="dk1"/>
          </a:effectRef>
          <a:fontRef idx="minor">
            <a:schemeClr val="tx1"/>
          </a:fontRef>
        </p:style>
      </p:cxnSp>
      <p:cxnSp>
        <p:nvCxnSpPr>
          <p:cNvPr id="2051" name="Straight Connector 2050">
            <a:extLst>
              <a:ext uri="{FF2B5EF4-FFF2-40B4-BE49-F238E27FC236}">
                <a16:creationId xmlns:a16="http://schemas.microsoft.com/office/drawing/2014/main" id="{87B9A4B4-11DE-BD38-693C-A0C1ACA60052}"/>
              </a:ext>
            </a:extLst>
          </p:cNvPr>
          <p:cNvCxnSpPr>
            <a:cxnSpLocks/>
          </p:cNvCxnSpPr>
          <p:nvPr/>
        </p:nvCxnSpPr>
        <p:spPr>
          <a:xfrm>
            <a:off x="9611360" y="2891075"/>
            <a:ext cx="284480" cy="309325"/>
          </a:xfrm>
          <a:prstGeom prst="line">
            <a:avLst/>
          </a:prstGeom>
        </p:spPr>
        <p:style>
          <a:lnRef idx="1">
            <a:schemeClr val="dk1"/>
          </a:lnRef>
          <a:fillRef idx="0">
            <a:schemeClr val="dk1"/>
          </a:fillRef>
          <a:effectRef idx="0">
            <a:schemeClr val="dk1"/>
          </a:effectRef>
          <a:fontRef idx="minor">
            <a:schemeClr val="tx1"/>
          </a:fontRef>
        </p:style>
      </p:cxnSp>
      <p:cxnSp>
        <p:nvCxnSpPr>
          <p:cNvPr id="2057" name="Straight Connector 2056">
            <a:extLst>
              <a:ext uri="{FF2B5EF4-FFF2-40B4-BE49-F238E27FC236}">
                <a16:creationId xmlns:a16="http://schemas.microsoft.com/office/drawing/2014/main" id="{190D3A2B-83A2-ED8B-F9E5-B24B80B8B015}"/>
              </a:ext>
            </a:extLst>
          </p:cNvPr>
          <p:cNvCxnSpPr/>
          <p:nvPr/>
        </p:nvCxnSpPr>
        <p:spPr>
          <a:xfrm>
            <a:off x="9357360" y="2808843"/>
            <a:ext cx="697412"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061" name="Straight Arrow Connector 2060">
            <a:extLst>
              <a:ext uri="{FF2B5EF4-FFF2-40B4-BE49-F238E27FC236}">
                <a16:creationId xmlns:a16="http://schemas.microsoft.com/office/drawing/2014/main" id="{0839DD42-DBF6-CBCA-B4B9-98C01DD4C245}"/>
              </a:ext>
            </a:extLst>
          </p:cNvPr>
          <p:cNvCxnSpPr>
            <a:endCxn id="55" idx="6"/>
          </p:cNvCxnSpPr>
          <p:nvPr/>
        </p:nvCxnSpPr>
        <p:spPr>
          <a:xfrm flipH="1" flipV="1">
            <a:off x="6964680" y="1951376"/>
            <a:ext cx="2189480" cy="8574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3" name="Straight Arrow Connector 2062">
            <a:extLst>
              <a:ext uri="{FF2B5EF4-FFF2-40B4-BE49-F238E27FC236}">
                <a16:creationId xmlns:a16="http://schemas.microsoft.com/office/drawing/2014/main" id="{BCA8E2F5-BAD1-63CD-96E0-E3EA77F57621}"/>
              </a:ext>
            </a:extLst>
          </p:cNvPr>
          <p:cNvCxnSpPr>
            <a:endCxn id="56" idx="6"/>
          </p:cNvCxnSpPr>
          <p:nvPr/>
        </p:nvCxnSpPr>
        <p:spPr>
          <a:xfrm flipH="1" flipV="1">
            <a:off x="7096760" y="2545627"/>
            <a:ext cx="2057400" cy="2632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5" name="Straight Arrow Connector 2064">
            <a:extLst>
              <a:ext uri="{FF2B5EF4-FFF2-40B4-BE49-F238E27FC236}">
                <a16:creationId xmlns:a16="http://schemas.microsoft.com/office/drawing/2014/main" id="{4409023C-A2C9-AC05-5CAE-C8BEE943B145}"/>
              </a:ext>
            </a:extLst>
          </p:cNvPr>
          <p:cNvCxnSpPr>
            <a:endCxn id="59" idx="6"/>
          </p:cNvCxnSpPr>
          <p:nvPr/>
        </p:nvCxnSpPr>
        <p:spPr>
          <a:xfrm flipH="1">
            <a:off x="7030720" y="2808843"/>
            <a:ext cx="2123440" cy="18069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7" name="Straight Arrow Connector 2066">
            <a:extLst>
              <a:ext uri="{FF2B5EF4-FFF2-40B4-BE49-F238E27FC236}">
                <a16:creationId xmlns:a16="http://schemas.microsoft.com/office/drawing/2014/main" id="{3A24F4EC-D6C6-EE9C-FFDF-330284694D43}"/>
              </a:ext>
            </a:extLst>
          </p:cNvPr>
          <p:cNvCxnSpPr>
            <a:cxnSpLocks/>
          </p:cNvCxnSpPr>
          <p:nvPr/>
        </p:nvCxnSpPr>
        <p:spPr>
          <a:xfrm flipH="1">
            <a:off x="7005320" y="2846553"/>
            <a:ext cx="2123440" cy="2557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68" name="Oval 2067">
            <a:extLst>
              <a:ext uri="{FF2B5EF4-FFF2-40B4-BE49-F238E27FC236}">
                <a16:creationId xmlns:a16="http://schemas.microsoft.com/office/drawing/2014/main" id="{A53A9C25-C397-ADE3-9C18-C3CCCE0A68C1}"/>
              </a:ext>
            </a:extLst>
          </p:cNvPr>
          <p:cNvSpPr/>
          <p:nvPr/>
        </p:nvSpPr>
        <p:spPr>
          <a:xfrm>
            <a:off x="1676400" y="2042160"/>
            <a:ext cx="375920" cy="37555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cxnSp>
        <p:nvCxnSpPr>
          <p:cNvPr id="2073" name="Straight Connector 2072">
            <a:extLst>
              <a:ext uri="{FF2B5EF4-FFF2-40B4-BE49-F238E27FC236}">
                <a16:creationId xmlns:a16="http://schemas.microsoft.com/office/drawing/2014/main" id="{8F141315-3256-974E-DDD3-26DA6167538C}"/>
              </a:ext>
            </a:extLst>
          </p:cNvPr>
          <p:cNvCxnSpPr>
            <a:stCxn id="2068" idx="4"/>
          </p:cNvCxnSpPr>
          <p:nvPr/>
        </p:nvCxnSpPr>
        <p:spPr>
          <a:xfrm flipH="1">
            <a:off x="1849120" y="2417712"/>
            <a:ext cx="15240" cy="428841"/>
          </a:xfrm>
          <a:prstGeom prst="line">
            <a:avLst/>
          </a:prstGeom>
        </p:spPr>
        <p:style>
          <a:lnRef idx="1">
            <a:schemeClr val="dk1"/>
          </a:lnRef>
          <a:fillRef idx="0">
            <a:schemeClr val="dk1"/>
          </a:fillRef>
          <a:effectRef idx="0">
            <a:schemeClr val="dk1"/>
          </a:effectRef>
          <a:fontRef idx="minor">
            <a:schemeClr val="tx1"/>
          </a:fontRef>
        </p:style>
      </p:cxnSp>
      <p:cxnSp>
        <p:nvCxnSpPr>
          <p:cNvPr id="2075" name="Straight Connector 2074">
            <a:extLst>
              <a:ext uri="{FF2B5EF4-FFF2-40B4-BE49-F238E27FC236}">
                <a16:creationId xmlns:a16="http://schemas.microsoft.com/office/drawing/2014/main" id="{55C7F926-8079-ED64-6DE8-50C6DDC7E25C}"/>
              </a:ext>
            </a:extLst>
          </p:cNvPr>
          <p:cNvCxnSpPr/>
          <p:nvPr/>
        </p:nvCxnSpPr>
        <p:spPr>
          <a:xfrm flipH="1">
            <a:off x="1529079" y="2862347"/>
            <a:ext cx="320040" cy="331035"/>
          </a:xfrm>
          <a:prstGeom prst="line">
            <a:avLst/>
          </a:prstGeom>
        </p:spPr>
        <p:style>
          <a:lnRef idx="1">
            <a:schemeClr val="dk1"/>
          </a:lnRef>
          <a:fillRef idx="0">
            <a:schemeClr val="dk1"/>
          </a:fillRef>
          <a:effectRef idx="0">
            <a:schemeClr val="dk1"/>
          </a:effectRef>
          <a:fontRef idx="minor">
            <a:schemeClr val="tx1"/>
          </a:fontRef>
        </p:style>
      </p:cxnSp>
      <p:cxnSp>
        <p:nvCxnSpPr>
          <p:cNvPr id="2077" name="Straight Connector 2076">
            <a:extLst>
              <a:ext uri="{FF2B5EF4-FFF2-40B4-BE49-F238E27FC236}">
                <a16:creationId xmlns:a16="http://schemas.microsoft.com/office/drawing/2014/main" id="{8AF44192-5395-1ACC-ED3B-BBA5AA3E508F}"/>
              </a:ext>
            </a:extLst>
          </p:cNvPr>
          <p:cNvCxnSpPr/>
          <p:nvPr/>
        </p:nvCxnSpPr>
        <p:spPr>
          <a:xfrm>
            <a:off x="1847305" y="2846558"/>
            <a:ext cx="447040" cy="420069"/>
          </a:xfrm>
          <a:prstGeom prst="line">
            <a:avLst/>
          </a:prstGeom>
        </p:spPr>
        <p:style>
          <a:lnRef idx="1">
            <a:schemeClr val="dk1"/>
          </a:lnRef>
          <a:fillRef idx="0">
            <a:schemeClr val="dk1"/>
          </a:fillRef>
          <a:effectRef idx="0">
            <a:schemeClr val="dk1"/>
          </a:effectRef>
          <a:fontRef idx="minor">
            <a:schemeClr val="tx1"/>
          </a:fontRef>
        </p:style>
      </p:cxnSp>
      <p:cxnSp>
        <p:nvCxnSpPr>
          <p:cNvPr id="2079" name="Straight Connector 2078">
            <a:extLst>
              <a:ext uri="{FF2B5EF4-FFF2-40B4-BE49-F238E27FC236}">
                <a16:creationId xmlns:a16="http://schemas.microsoft.com/office/drawing/2014/main" id="{3E936158-A2E2-B458-13E1-8FC10AC19B3F}"/>
              </a:ext>
            </a:extLst>
          </p:cNvPr>
          <p:cNvCxnSpPr/>
          <p:nvPr/>
        </p:nvCxnSpPr>
        <p:spPr>
          <a:xfrm>
            <a:off x="1488439" y="2590144"/>
            <a:ext cx="937716" cy="49200"/>
          </a:xfrm>
          <a:prstGeom prst="line">
            <a:avLst/>
          </a:prstGeom>
        </p:spPr>
        <p:style>
          <a:lnRef idx="1">
            <a:schemeClr val="dk1"/>
          </a:lnRef>
          <a:fillRef idx="0">
            <a:schemeClr val="dk1"/>
          </a:fillRef>
          <a:effectRef idx="0">
            <a:schemeClr val="dk1"/>
          </a:effectRef>
          <a:fontRef idx="minor">
            <a:schemeClr val="tx1"/>
          </a:fontRef>
        </p:style>
      </p:cxnSp>
      <p:cxnSp>
        <p:nvCxnSpPr>
          <p:cNvPr id="2081" name="Straight Arrow Connector 2080">
            <a:extLst>
              <a:ext uri="{FF2B5EF4-FFF2-40B4-BE49-F238E27FC236}">
                <a16:creationId xmlns:a16="http://schemas.microsoft.com/office/drawing/2014/main" id="{61852250-A4CC-C507-1371-9F8C18B6E62A}"/>
              </a:ext>
            </a:extLst>
          </p:cNvPr>
          <p:cNvCxnSpPr>
            <a:cxnSpLocks/>
          </p:cNvCxnSpPr>
          <p:nvPr/>
        </p:nvCxnSpPr>
        <p:spPr>
          <a:xfrm flipV="1">
            <a:off x="2695893" y="1423384"/>
            <a:ext cx="1808480" cy="12375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83" name="Straight Arrow Connector 2082">
            <a:extLst>
              <a:ext uri="{FF2B5EF4-FFF2-40B4-BE49-F238E27FC236}">
                <a16:creationId xmlns:a16="http://schemas.microsoft.com/office/drawing/2014/main" id="{A5BFE306-F213-25C7-FDF5-244F553A8916}"/>
              </a:ext>
            </a:extLst>
          </p:cNvPr>
          <p:cNvCxnSpPr>
            <a:endCxn id="57" idx="2"/>
          </p:cNvCxnSpPr>
          <p:nvPr/>
        </p:nvCxnSpPr>
        <p:spPr>
          <a:xfrm>
            <a:off x="2616655" y="2672523"/>
            <a:ext cx="2051865" cy="573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85" name="Straight Arrow Connector 2084">
            <a:extLst>
              <a:ext uri="{FF2B5EF4-FFF2-40B4-BE49-F238E27FC236}">
                <a16:creationId xmlns:a16="http://schemas.microsoft.com/office/drawing/2014/main" id="{F3828185-27C0-9C36-A199-9E74D5E36E01}"/>
              </a:ext>
            </a:extLst>
          </p:cNvPr>
          <p:cNvCxnSpPr>
            <a:endCxn id="58" idx="2"/>
          </p:cNvCxnSpPr>
          <p:nvPr/>
        </p:nvCxnSpPr>
        <p:spPr>
          <a:xfrm>
            <a:off x="2629852" y="2686283"/>
            <a:ext cx="2104708" cy="128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273887A3-C67B-81EE-F840-36ACF00E3B47}"/>
              </a:ext>
            </a:extLst>
          </p:cNvPr>
          <p:cNvSpPr txBox="1"/>
          <p:nvPr/>
        </p:nvSpPr>
        <p:spPr>
          <a:xfrm>
            <a:off x="9128760" y="3429000"/>
            <a:ext cx="1767038" cy="646331"/>
          </a:xfrm>
          <a:prstGeom prst="rect">
            <a:avLst/>
          </a:prstGeom>
          <a:noFill/>
        </p:spPr>
        <p:txBody>
          <a:bodyPr wrap="square" rtlCol="0">
            <a:spAutoFit/>
          </a:bodyPr>
          <a:lstStyle/>
          <a:p>
            <a:r>
              <a:rPr lang="en-US" dirty="0"/>
              <a:t>System</a:t>
            </a:r>
          </a:p>
          <a:p>
            <a:endParaRPr lang="en-IN" dirty="0"/>
          </a:p>
        </p:txBody>
      </p:sp>
      <p:sp>
        <p:nvSpPr>
          <p:cNvPr id="5" name="TextBox 4">
            <a:extLst>
              <a:ext uri="{FF2B5EF4-FFF2-40B4-BE49-F238E27FC236}">
                <a16:creationId xmlns:a16="http://schemas.microsoft.com/office/drawing/2014/main" id="{B2D74CEA-8F40-FA70-4BF6-0695823C5433}"/>
              </a:ext>
            </a:extLst>
          </p:cNvPr>
          <p:cNvSpPr txBox="1"/>
          <p:nvPr/>
        </p:nvSpPr>
        <p:spPr>
          <a:xfrm>
            <a:off x="1289785" y="3513221"/>
            <a:ext cx="1748055" cy="369332"/>
          </a:xfrm>
          <a:prstGeom prst="rect">
            <a:avLst/>
          </a:prstGeom>
          <a:noFill/>
        </p:spPr>
        <p:txBody>
          <a:bodyPr wrap="square" rtlCol="0">
            <a:spAutoFit/>
          </a:bodyPr>
          <a:lstStyle/>
          <a:p>
            <a:r>
              <a:rPr lang="en-US" dirty="0"/>
              <a:t>user</a:t>
            </a:r>
            <a:endParaRPr lang="en-IN" dirty="0"/>
          </a:p>
        </p:txBody>
      </p:sp>
    </p:spTree>
    <p:extLst>
      <p:ext uri="{BB962C8B-B14F-4D97-AF65-F5344CB8AC3E}">
        <p14:creationId xmlns:p14="http://schemas.microsoft.com/office/powerpoint/2010/main" val="1467590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79874B-2280-B0FF-550A-CAF66069DB2A}"/>
              </a:ext>
            </a:extLst>
          </p:cNvPr>
          <p:cNvSpPr>
            <a:spLocks noGrp="1"/>
          </p:cNvSpPr>
          <p:nvPr>
            <p:ph type="sldNum" sz="quarter" idx="12"/>
          </p:nvPr>
        </p:nvSpPr>
        <p:spPr/>
        <p:txBody>
          <a:bodyPr/>
          <a:lstStyle/>
          <a:p>
            <a:fld id="{B4E73946-9152-2148-B286-BEF1B04A8193}" type="slidenum">
              <a:rPr lang="en-US" smtClean="0"/>
              <a:t>8</a:t>
            </a:fld>
            <a:endParaRPr lang="en-US" dirty="0"/>
          </a:p>
        </p:txBody>
      </p:sp>
      <p:pic>
        <p:nvPicPr>
          <p:cNvPr id="7" name="Picture Placeholder 6" descr="A diagram of a face processing process&#10;&#10;Description automatically generated">
            <a:extLst>
              <a:ext uri="{FF2B5EF4-FFF2-40B4-BE49-F238E27FC236}">
                <a16:creationId xmlns:a16="http://schemas.microsoft.com/office/drawing/2014/main" id="{3B295968-181B-BA46-1D28-415C786B5A2B}"/>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t="814" b="814"/>
          <a:stretch>
            <a:fillRect/>
          </a:stretch>
        </p:blipFill>
        <p:spPr>
          <a:xfrm>
            <a:off x="-173038" y="-104775"/>
            <a:ext cx="12257088" cy="6858000"/>
          </a:xfrm>
        </p:spPr>
      </p:pic>
      <p:sp>
        <p:nvSpPr>
          <p:cNvPr id="8" name="TextBox 7">
            <a:extLst>
              <a:ext uri="{FF2B5EF4-FFF2-40B4-BE49-F238E27FC236}">
                <a16:creationId xmlns:a16="http://schemas.microsoft.com/office/drawing/2014/main" id="{E56F8647-6B64-9B57-49B2-BE53D522DA66}"/>
              </a:ext>
            </a:extLst>
          </p:cNvPr>
          <p:cNvSpPr txBox="1"/>
          <p:nvPr/>
        </p:nvSpPr>
        <p:spPr>
          <a:xfrm>
            <a:off x="4310709" y="-104775"/>
            <a:ext cx="4664598" cy="707886"/>
          </a:xfrm>
          <a:prstGeom prst="rect">
            <a:avLst/>
          </a:prstGeom>
          <a:noFill/>
        </p:spPr>
        <p:txBody>
          <a:bodyPr wrap="square" rtlCol="0">
            <a:spAutoFit/>
          </a:bodyPr>
          <a:lstStyle/>
          <a:p>
            <a:r>
              <a:rPr lang="en-US" sz="4000" b="1" dirty="0"/>
              <a:t>BLOCK DIAGRAM</a:t>
            </a:r>
            <a:endParaRPr lang="en-IN" sz="4000" b="1" dirty="0"/>
          </a:p>
        </p:txBody>
      </p:sp>
    </p:spTree>
    <p:extLst>
      <p:ext uri="{BB962C8B-B14F-4D97-AF65-F5344CB8AC3E}">
        <p14:creationId xmlns:p14="http://schemas.microsoft.com/office/powerpoint/2010/main" val="1071130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4E73946-9152-2148-B286-BEF1B04A8193}" type="slidenum">
              <a:rPr lang="en-US" smtClean="0"/>
              <a:t>9</a:t>
            </a:fld>
            <a:endParaRPr lang="en-US" dirty="0"/>
          </a:p>
        </p:txBody>
      </p:sp>
      <p:pic>
        <p:nvPicPr>
          <p:cNvPr id="8" name="Picture Placeholder 7"/>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t="2623" b="2623"/>
          <a:stretch>
            <a:fillRect/>
          </a:stretch>
        </p:blipFill>
        <p:spPr>
          <a:xfrm>
            <a:off x="199178" y="506123"/>
            <a:ext cx="11820808" cy="6308298"/>
          </a:xfrm>
        </p:spPr>
      </p:pic>
      <p:sp>
        <p:nvSpPr>
          <p:cNvPr id="9" name="TextBox 8"/>
          <p:cNvSpPr txBox="1"/>
          <p:nvPr/>
        </p:nvSpPr>
        <p:spPr>
          <a:xfrm>
            <a:off x="3286407" y="-71986"/>
            <a:ext cx="4599161" cy="646331"/>
          </a:xfrm>
          <a:prstGeom prst="rect">
            <a:avLst/>
          </a:prstGeom>
          <a:noFill/>
        </p:spPr>
        <p:txBody>
          <a:bodyPr wrap="square" rtlCol="0">
            <a:spAutoFit/>
          </a:bodyPr>
          <a:lstStyle/>
          <a:p>
            <a:pPr algn="ctr"/>
            <a:r>
              <a:rPr lang="en-IN" sz="3600" b="1" dirty="0"/>
              <a:t>OUTPUT</a:t>
            </a:r>
          </a:p>
        </p:txBody>
      </p:sp>
    </p:spTree>
    <p:extLst>
      <p:ext uri="{BB962C8B-B14F-4D97-AF65-F5344CB8AC3E}">
        <p14:creationId xmlns:p14="http://schemas.microsoft.com/office/powerpoint/2010/main" val="2304365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0B7700-3313-8C8B-5316-3C329F8D53F6}"/>
              </a:ext>
            </a:extLst>
          </p:cNvPr>
          <p:cNvSpPr>
            <a:spLocks noGrp="1"/>
          </p:cNvSpPr>
          <p:nvPr>
            <p:ph type="title"/>
          </p:nvPr>
        </p:nvSpPr>
        <p:spPr>
          <a:xfrm>
            <a:off x="1331088" y="565739"/>
            <a:ext cx="9745883" cy="1124949"/>
          </a:xfrm>
        </p:spPr>
        <p:txBody>
          <a:bodyPr vert="horz" lIns="91440" tIns="45720" rIns="91440" bIns="45720" rtlCol="0" anchor="ctr">
            <a:normAutofit/>
          </a:bodyPr>
          <a:lstStyle/>
          <a:p>
            <a:pPr algn="ctr" defTabSz="914400"/>
            <a:r>
              <a:rPr lang="en-US" sz="4400">
                <a:solidFill>
                  <a:schemeClr val="bg1"/>
                </a:solidFill>
                <a:latin typeface="+mj-lt"/>
                <a:ea typeface="Calibri Light"/>
                <a:cs typeface="Calibri Light"/>
              </a:rPr>
              <a:t>CONCLUSION</a:t>
            </a:r>
            <a:endParaRPr lang="en-US" sz="4400" kern="1200" dirty="0">
              <a:solidFill>
                <a:schemeClr val="bg1"/>
              </a:solidFill>
              <a:latin typeface="+mj-lt"/>
              <a:ea typeface="Calibri Light"/>
              <a:cs typeface="Calibri Light"/>
            </a:endParaRPr>
          </a:p>
        </p:txBody>
      </p:sp>
      <p:sp>
        <p:nvSpPr>
          <p:cNvPr id="28" name="Freeform: Shape 27">
            <a:extLst>
              <a:ext uri="{FF2B5EF4-FFF2-40B4-BE49-F238E27FC236}">
                <a16:creationId xmlns:a16="http://schemas.microsoft.com/office/drawing/2014/main" id="{AAD42DD4-86F6-4FD2-869F-32D35E310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9" name="Freeform: Shape 28">
            <a:extLst>
              <a:ext uri="{FF2B5EF4-FFF2-40B4-BE49-F238E27FC236}">
                <a16:creationId xmlns:a16="http://schemas.microsoft.com/office/drawing/2014/main" id="{4C36B8C5-0DEB-41B5-911D-572E2E835E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5DC987A-A8C7-4C23-9BF5-33E9F6F21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6766" y="2256427"/>
            <a:ext cx="10855283" cy="3963398"/>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213F2CF-C6DF-4CE1-A6F0-E3B1BFBB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256427"/>
            <a:ext cx="10853849" cy="3955009"/>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325C15-4820-4911-B66E-A5F917CFA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5106" y="2125615"/>
            <a:ext cx="10855283" cy="3974760"/>
          </a:xfrm>
          <a:prstGeom prst="rect">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1FB6ABEE-0A82-4182-E279-7C4DDC90441F}"/>
              </a:ext>
            </a:extLst>
          </p:cNvPr>
          <p:cNvSpPr>
            <a:spLocks/>
          </p:cNvSpPr>
          <p:nvPr/>
        </p:nvSpPr>
        <p:spPr>
          <a:xfrm>
            <a:off x="853200" y="2146114"/>
            <a:ext cx="5110033" cy="3585748"/>
          </a:xfrm>
          <a:prstGeom prst="rect">
            <a:avLst/>
          </a:prstGeom>
        </p:spPr>
        <p:txBody>
          <a:bodyPr lIns="91440" tIns="45720" rIns="91440" bIns="45720" anchor="t"/>
          <a:lstStyle/>
          <a:p>
            <a:pPr defTabSz="557784">
              <a:spcAft>
                <a:spcPts val="600"/>
              </a:spcAft>
            </a:pPr>
            <a:endParaRPr lang="en-US" sz="1050" dirty="0">
              <a:cs typeface="Calibri"/>
            </a:endParaRPr>
          </a:p>
        </p:txBody>
      </p:sp>
      <p:sp>
        <p:nvSpPr>
          <p:cNvPr id="6" name="TextBox 5">
            <a:extLst>
              <a:ext uri="{FF2B5EF4-FFF2-40B4-BE49-F238E27FC236}">
                <a16:creationId xmlns:a16="http://schemas.microsoft.com/office/drawing/2014/main" id="{A1332E7E-82D3-B006-A3C5-A48CB25B1CCE}"/>
              </a:ext>
            </a:extLst>
          </p:cNvPr>
          <p:cNvSpPr txBox="1"/>
          <p:nvPr/>
        </p:nvSpPr>
        <p:spPr>
          <a:xfrm>
            <a:off x="734786" y="2253342"/>
            <a:ext cx="1059724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ea typeface="Calibri"/>
                <a:cs typeface="Calibri"/>
              </a:rPr>
              <a:t>The main conception of this project is to </a:t>
            </a:r>
            <a:r>
              <a:rPr lang="en-US" sz="2800" err="1">
                <a:ea typeface="Calibri"/>
                <a:cs typeface="Calibri"/>
              </a:rPr>
              <a:t>findout</a:t>
            </a:r>
            <a:r>
              <a:rPr lang="en-US" sz="2800" dirty="0">
                <a:ea typeface="Calibri"/>
                <a:cs typeface="Calibri"/>
              </a:rPr>
              <a:t> stress in human beings with the help of image processing.</a:t>
            </a:r>
          </a:p>
        </p:txBody>
      </p:sp>
    </p:spTree>
    <p:extLst>
      <p:ext uri="{BB962C8B-B14F-4D97-AF65-F5344CB8AC3E}">
        <p14:creationId xmlns:p14="http://schemas.microsoft.com/office/powerpoint/2010/main" val="1231063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A9A7A4-1CF6-495F-B056-44E9591AB6D9}"/>
              </a:ext>
            </a:extLst>
          </p:cNvPr>
          <p:cNvSpPr txBox="1"/>
          <p:nvPr/>
        </p:nvSpPr>
        <p:spPr>
          <a:xfrm>
            <a:off x="1328057" y="2759529"/>
            <a:ext cx="10439400" cy="1015663"/>
          </a:xfrm>
          <a:prstGeom prst="rect">
            <a:avLst/>
          </a:prstGeom>
          <a:noFill/>
        </p:spPr>
        <p:txBody>
          <a:bodyPr vertOverflow="overflow" vert="horz" wrap="square" lIns="91440" tIns="45720" rIns="91440" bIns="45720" rtlCol="0" anchor="t" anchorCtr="0">
            <a:spAutoFit/>
          </a:bodyPr>
          <a:lstStyle/>
          <a:p>
            <a:pPr algn="ctr"/>
            <a:r>
              <a:rPr lang="en-US" sz="6000" b="1" dirty="0">
                <a:latin typeface="Calibri"/>
                <a:ea typeface="Calibri"/>
                <a:cs typeface="Calibri"/>
              </a:rPr>
              <a:t>THANK YOU</a:t>
            </a:r>
          </a:p>
        </p:txBody>
      </p:sp>
    </p:spTree>
    <p:extLst>
      <p:ext uri="{BB962C8B-B14F-4D97-AF65-F5344CB8AC3E}">
        <p14:creationId xmlns:p14="http://schemas.microsoft.com/office/powerpoint/2010/main" val="3190019903"/>
      </p:ext>
    </p:extLst>
  </p:cSld>
  <p:clrMapOvr>
    <a:masterClrMapping/>
  </p:clrMapOvr>
</p:sld>
</file>

<file path=ppt/theme/theme1.xml><?xml version="1.0" encoding="utf-8"?>
<a:theme xmlns:a="http://schemas.openxmlformats.org/drawingml/2006/main" name="Midnigh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388</TotalTime>
  <Words>491</Words>
  <Application>Microsoft Office PowerPoint</Application>
  <PresentationFormat>Widescreen</PresentationFormat>
  <Paragraphs>58</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Midnight</vt:lpstr>
      <vt:lpstr>STRESS DETECTION IN IT PROFESSIONAL BY IMAGE PROCESSING</vt:lpstr>
      <vt:lpstr>ABSTRACT</vt:lpstr>
      <vt:lpstr>INTRODUCTION</vt:lpstr>
      <vt:lpstr>EXISTING SYSTEM</vt:lpstr>
      <vt:lpstr>PROPOSING SYSTEM</vt:lpstr>
      <vt:lpstr>REQUIREMENTS</vt:lpstr>
      <vt:lpstr>USE CASE DIAGRAM</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VOSTRO</dc:creator>
  <cp:lastModifiedBy>Nithya Morla</cp:lastModifiedBy>
  <cp:revision>375</cp:revision>
  <dcterms:created xsi:type="dcterms:W3CDTF">2024-07-01T15:26:46Z</dcterms:created>
  <dcterms:modified xsi:type="dcterms:W3CDTF">2025-08-12T06:22:01Z</dcterms:modified>
</cp:coreProperties>
</file>